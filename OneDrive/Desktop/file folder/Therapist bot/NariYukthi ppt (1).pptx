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025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67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01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7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203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820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939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289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91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795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1813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453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1697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224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883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152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847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kitabhargava771@gmail.com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lineplus.gov/mentalhealth.html" TargetMode="External"/><Relationship Id="rId2" Type="http://schemas.openxmlformats.org/officeDocument/2006/relationships/hyperlink" Target="https://www.who.int/news-room/fact-sheets/detail/mental-health-strengthening-our-respons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sychiatry.org/patients-families/what-is-mental-illness" TargetMode="External"/><Relationship Id="rId5" Type="http://schemas.openxmlformats.org/officeDocument/2006/relationships/hyperlink" Target="https://www.betterhealth.vic.gov.au/health/servicesandsupport/types-of-mental-health-issues-and-illnesses" TargetMode="External"/><Relationship Id="rId4" Type="http://schemas.openxmlformats.org/officeDocument/2006/relationships/hyperlink" Target="https://www.nimh.nih.go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000" y="1962150"/>
            <a:ext cx="4876800" cy="161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Times New Roman"/>
                <a:cs typeface="Times New Roman"/>
              </a:rPr>
              <a:t>Team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Name: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 smtClean="0">
                <a:latin typeface="Times New Roman"/>
                <a:cs typeface="Times New Roman"/>
              </a:rPr>
              <a:t>Catalyst</a:t>
            </a:r>
            <a:r>
              <a:rPr sz="1700" spc="-75" dirty="0" smtClean="0">
                <a:latin typeface="Times New Roman"/>
                <a:cs typeface="Times New Roman"/>
              </a:rPr>
              <a:t> </a:t>
            </a:r>
            <a:r>
              <a:rPr sz="1700" spc="-20" dirty="0" smtClean="0">
                <a:latin typeface="Times New Roman"/>
                <a:cs typeface="Times New Roman"/>
              </a:rPr>
              <a:t>Crew</a:t>
            </a:r>
            <a:endParaRPr lang="en-US" sz="1700" spc="-2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20" dirty="0" smtClean="0">
                <a:latin typeface="Times New Roman"/>
                <a:cs typeface="Times New Roman"/>
              </a:rPr>
              <a:t>Team Member: Ankita </a:t>
            </a:r>
            <a:r>
              <a:rPr lang="en-US" sz="1700" spc="-20" dirty="0" smtClean="0">
                <a:latin typeface="Times New Roman"/>
                <a:cs typeface="Times New Roman"/>
              </a:rPr>
              <a:t>Bhargava</a:t>
            </a:r>
            <a:r>
              <a:rPr lang="en-US" sz="1700" spc="-20" dirty="0" smtClean="0">
                <a:latin typeface="Times New Roman"/>
                <a:cs typeface="Times New Roman"/>
              </a:rPr>
              <a:t>, </a:t>
            </a:r>
            <a:r>
              <a:rPr lang="en-US" sz="1700" spc="-20" dirty="0" err="1" smtClean="0">
                <a:latin typeface="Times New Roman"/>
                <a:cs typeface="Times New Roman"/>
              </a:rPr>
              <a:t>Palak</a:t>
            </a:r>
            <a:r>
              <a:rPr lang="en-US" sz="1700" spc="-20" dirty="0" smtClean="0">
                <a:latin typeface="Times New Roman"/>
                <a:cs typeface="Times New Roman"/>
              </a:rPr>
              <a:t> </a:t>
            </a:r>
            <a:r>
              <a:rPr lang="en-US" sz="1700" spc="-20" dirty="0" smtClean="0">
                <a:latin typeface="Times New Roman"/>
                <a:cs typeface="Times New Roman"/>
              </a:rPr>
              <a:t>Pandey</a:t>
            </a:r>
            <a:endParaRPr sz="1700" dirty="0">
              <a:latin typeface="Times New Roman"/>
              <a:cs typeface="Times New Roman"/>
            </a:endParaRPr>
          </a:p>
          <a:p>
            <a:pPr marL="24765" marR="1249680">
              <a:lnSpc>
                <a:spcPct val="102000"/>
              </a:lnSpc>
            </a:pPr>
            <a:r>
              <a:rPr sz="1700" dirty="0">
                <a:latin typeface="Times New Roman"/>
                <a:cs typeface="Times New Roman"/>
              </a:rPr>
              <a:t>College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Name: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G.D.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Goenka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University </a:t>
            </a:r>
            <a:endParaRPr lang="en-US" sz="1700" spc="-10" dirty="0" smtClean="0">
              <a:latin typeface="Times New Roman"/>
              <a:cs typeface="Times New Roman"/>
            </a:endParaRPr>
          </a:p>
          <a:p>
            <a:pPr marL="24765" marR="1249680">
              <a:lnSpc>
                <a:spcPct val="102000"/>
              </a:lnSpc>
            </a:pPr>
            <a:r>
              <a:rPr sz="1700" dirty="0" smtClean="0">
                <a:latin typeface="Times New Roman"/>
                <a:cs typeface="Times New Roman"/>
              </a:rPr>
              <a:t>Faculty</a:t>
            </a:r>
            <a:r>
              <a:rPr sz="1700" spc="-20" dirty="0" smtClean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mentor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name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: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lang="en-US" sz="1700" dirty="0" err="1" smtClean="0">
                <a:latin typeface="Times New Roman"/>
                <a:cs typeface="Times New Roman"/>
              </a:rPr>
              <a:t>Deepika</a:t>
            </a:r>
            <a:r>
              <a:rPr lang="en-US" sz="1700" dirty="0" smtClean="0">
                <a:latin typeface="Times New Roman"/>
                <a:cs typeface="Times New Roman"/>
              </a:rPr>
              <a:t> Ma’am</a:t>
            </a:r>
          </a:p>
          <a:p>
            <a:pPr marL="24765" marR="5080">
              <a:lnSpc>
                <a:spcPct val="102000"/>
              </a:lnSpc>
            </a:pPr>
            <a:r>
              <a:rPr sz="1700" spc="-10" dirty="0" smtClean="0">
                <a:latin typeface="Times New Roman"/>
                <a:cs typeface="Times New Roman"/>
              </a:rPr>
              <a:t>Team</a:t>
            </a:r>
            <a:r>
              <a:rPr sz="1700" spc="-40" dirty="0" smtClean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Leader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mail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id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: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  <a:hlinkClick r:id="rId2"/>
              </a:rPr>
              <a:t>ankitabhargava771@gmail.com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endParaRPr lang="en-US" sz="1700" spc="-10" dirty="0" smtClean="0">
              <a:latin typeface="Times New Roman"/>
              <a:cs typeface="Times New Roman"/>
            </a:endParaRPr>
          </a:p>
          <a:p>
            <a:pPr marL="24765" marR="5080">
              <a:lnSpc>
                <a:spcPct val="102000"/>
              </a:lnSpc>
            </a:pPr>
            <a:r>
              <a:rPr sz="1700" dirty="0" smtClean="0">
                <a:latin typeface="Times New Roman"/>
                <a:cs typeface="Times New Roman"/>
              </a:rPr>
              <a:t>Mobile</a:t>
            </a:r>
            <a:r>
              <a:rPr sz="1700" spc="-25" dirty="0" smtClean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Number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: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70140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93646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1552" y="304408"/>
            <a:ext cx="473011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TEAM</a:t>
            </a:r>
            <a:r>
              <a:rPr sz="4900" spc="-20" dirty="0"/>
              <a:t> </a:t>
            </a:r>
            <a:r>
              <a:rPr sz="4900" spc="-50" dirty="0"/>
              <a:t>DETAILS</a:t>
            </a:r>
            <a:endParaRPr sz="49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4200" y="129814"/>
            <a:ext cx="2597423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4075" y="821313"/>
            <a:ext cx="8381365" cy="30675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Project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Title</a:t>
            </a:r>
            <a:r>
              <a:rPr sz="1400" spc="-10" dirty="0">
                <a:latin typeface="Times New Roman"/>
                <a:cs typeface="Times New Roman"/>
              </a:rPr>
              <a:t>: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latin typeface="Times New Roman"/>
                <a:cs typeface="Times New Roman"/>
              </a:rPr>
              <a:t>Therapistbot-</a:t>
            </a:r>
            <a:r>
              <a:rPr sz="1400" dirty="0">
                <a:latin typeface="Times New Roman"/>
                <a:cs typeface="Times New Roman"/>
              </a:rPr>
              <a:t>Mental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Health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10" dirty="0" smtClean="0">
                <a:latin typeface="Times New Roman"/>
                <a:cs typeface="Times New Roman"/>
              </a:rPr>
              <a:t>Companion</a:t>
            </a:r>
            <a:endParaRPr sz="1400" dirty="0" smtClean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 smtClean="0">
                <a:latin typeface="Times New Roman"/>
                <a:cs typeface="Times New Roman"/>
              </a:rPr>
              <a:t>Project</a:t>
            </a:r>
            <a:r>
              <a:rPr sz="1400" b="1" spc="-65" dirty="0" smtClean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Theme: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Gen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AI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Problem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Statement:</a:t>
            </a:r>
            <a:endParaRPr sz="14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Create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20" dirty="0">
                <a:latin typeface="Times New Roman"/>
                <a:cs typeface="Times New Roman"/>
              </a:rPr>
              <a:t> empathetic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chatbot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provides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motivational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messages,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mindfulness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exercises,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endParaRPr lang="en-US" sz="1400" spc="-25" dirty="0" smtClean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dirty="0" smtClean="0">
                <a:latin typeface="Times New Roman"/>
                <a:cs typeface="Times New Roman"/>
              </a:rPr>
              <a:t>or</a:t>
            </a:r>
            <a:r>
              <a:rPr sz="1400" spc="-25" dirty="0" smtClean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safe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space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users </a:t>
            </a:r>
            <a:r>
              <a:rPr sz="1400" dirty="0">
                <a:latin typeface="Times New Roman"/>
                <a:cs typeface="Times New Roman"/>
              </a:rPr>
              <a:t>to </a:t>
            </a:r>
            <a:r>
              <a:rPr sz="1400" spc="-10" dirty="0">
                <a:latin typeface="Times New Roman"/>
                <a:cs typeface="Times New Roman"/>
              </a:rPr>
              <a:t>vent.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400" b="1" spc="-10" dirty="0">
                <a:latin typeface="Times New Roman"/>
                <a:cs typeface="Times New Roman"/>
              </a:rPr>
              <a:t>Proposed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Solution:</a:t>
            </a:r>
            <a:endParaRPr sz="1400" dirty="0">
              <a:latin typeface="Times New Roman"/>
              <a:cs typeface="Times New Roman"/>
            </a:endParaRPr>
          </a:p>
          <a:p>
            <a:pPr marL="12700" marR="14604" algn="just">
              <a:lnSpc>
                <a:spcPct val="100000"/>
              </a:lnSpc>
            </a:pPr>
            <a:r>
              <a:rPr sz="1400" spc="-55" dirty="0">
                <a:latin typeface="Times New Roman"/>
                <a:cs typeface="Times New Roman"/>
              </a:rPr>
              <a:t>We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have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made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website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name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“Therapistbot”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which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Mental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health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companion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people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endParaRPr lang="en-US" sz="1400" spc="-35" dirty="0" smtClean="0">
              <a:latin typeface="Times New Roman"/>
              <a:cs typeface="Times New Roman"/>
            </a:endParaRPr>
          </a:p>
          <a:p>
            <a:pPr marL="12700" marR="14604" algn="just">
              <a:lnSpc>
                <a:spcPct val="100000"/>
              </a:lnSpc>
            </a:pPr>
            <a:r>
              <a:rPr sz="1400" dirty="0" smtClean="0">
                <a:latin typeface="Times New Roman"/>
                <a:cs typeface="Times New Roman"/>
              </a:rPr>
              <a:t>suffering</a:t>
            </a:r>
            <a:r>
              <a:rPr sz="1400" spc="-30" dirty="0" smtClean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10" dirty="0">
                <a:latin typeface="Times New Roman"/>
                <a:cs typeface="Times New Roman"/>
              </a:rPr>
              <a:t> mental </a:t>
            </a:r>
            <a:r>
              <a:rPr sz="1400" dirty="0">
                <a:latin typeface="Times New Roman"/>
                <a:cs typeface="Times New Roman"/>
              </a:rPr>
              <a:t>health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issues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our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website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helps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them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providing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solutions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 smtClean="0">
                <a:latin typeface="Times New Roman"/>
                <a:cs typeface="Times New Roman"/>
              </a:rPr>
              <a:t>their</a:t>
            </a:r>
            <a:endParaRPr lang="en-US" sz="1400" dirty="0" smtClean="0">
              <a:latin typeface="Times New Roman"/>
              <a:cs typeface="Times New Roman"/>
            </a:endParaRPr>
          </a:p>
          <a:p>
            <a:pPr marL="12700" marR="14604" algn="just">
              <a:lnSpc>
                <a:spcPct val="100000"/>
              </a:lnSpc>
            </a:pPr>
            <a:r>
              <a:rPr sz="1400" spc="125" dirty="0" smtClean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problems.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have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our </a:t>
            </a:r>
            <a:r>
              <a:rPr sz="1400" spc="-10" dirty="0">
                <a:latin typeface="Times New Roman"/>
                <a:cs typeface="Times New Roman"/>
              </a:rPr>
              <a:t>website.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8401" y="62865"/>
            <a:ext cx="343577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PROJECT</a:t>
            </a:r>
            <a:r>
              <a:rPr spc="-95" dirty="0"/>
              <a:t> </a:t>
            </a:r>
            <a:r>
              <a:rPr spc="-10" dirty="0"/>
              <a:t>DETAILS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6900" y="643187"/>
            <a:ext cx="5252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1. </a:t>
            </a:r>
            <a:r>
              <a:rPr sz="1400" b="1" spc="-10" dirty="0">
                <a:latin typeface="Times New Roman"/>
                <a:cs typeface="Times New Roman"/>
              </a:rPr>
              <a:t>Frontend:</a:t>
            </a:r>
            <a:endParaRPr sz="1400" dirty="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Provides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Interface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(UI)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responsible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interaction.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6899" y="1283268"/>
            <a:ext cx="60769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HTML: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define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structure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application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(input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field,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display, etc.)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6899" y="1923347"/>
            <a:ext cx="61918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CSS: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Styles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UI,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ensuring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responsiveness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aesthetically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pleasing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design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(e.g., </a:t>
            </a:r>
            <a:r>
              <a:rPr sz="1400" dirty="0">
                <a:latin typeface="Times New Roman"/>
                <a:cs typeface="Times New Roman"/>
              </a:rPr>
              <a:t>chat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bubbles,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input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styling).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899" y="2563427"/>
            <a:ext cx="622109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JavaScript:</a:t>
            </a:r>
            <a:endParaRPr sz="1400">
              <a:latin typeface="Times New Roman"/>
              <a:cs typeface="Times New Roman"/>
            </a:endParaRPr>
          </a:p>
          <a:p>
            <a:pPr marL="642620" indent="-335915">
              <a:lnSpc>
                <a:spcPct val="100000"/>
              </a:lnSpc>
              <a:buFont typeface="Arial MT"/>
              <a:buChar char="●"/>
              <a:tabLst>
                <a:tab pos="642620" algn="l"/>
              </a:tabLst>
            </a:pPr>
            <a:r>
              <a:rPr sz="1400" dirty="0">
                <a:latin typeface="Times New Roman"/>
                <a:cs typeface="Times New Roman"/>
              </a:rPr>
              <a:t>Adds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interactivity.</a:t>
            </a:r>
            <a:endParaRPr sz="1400">
              <a:latin typeface="Times New Roman"/>
              <a:cs typeface="Times New Roman"/>
            </a:endParaRPr>
          </a:p>
          <a:p>
            <a:pPr marL="642620" indent="-335915">
              <a:lnSpc>
                <a:spcPct val="100000"/>
              </a:lnSpc>
              <a:buFont typeface="Arial MT"/>
              <a:buChar char="●"/>
              <a:tabLst>
                <a:tab pos="642620" algn="l"/>
              </a:tabLst>
            </a:pPr>
            <a:r>
              <a:rPr sz="1400" spc="-10" dirty="0">
                <a:latin typeface="Times New Roman"/>
                <a:cs typeface="Times New Roman"/>
              </a:rPr>
              <a:t>Captures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input.</a:t>
            </a:r>
            <a:endParaRPr sz="1400">
              <a:latin typeface="Times New Roman"/>
              <a:cs typeface="Times New Roman"/>
            </a:endParaRPr>
          </a:p>
          <a:p>
            <a:pPr marL="642620" indent="-335915">
              <a:lnSpc>
                <a:spcPct val="100000"/>
              </a:lnSpc>
              <a:buFont typeface="Arial MT"/>
              <a:buChar char="●"/>
              <a:tabLst>
                <a:tab pos="642620" algn="l"/>
              </a:tabLst>
            </a:pPr>
            <a:r>
              <a:rPr sz="1400" spc="-10" dirty="0">
                <a:latin typeface="Times New Roman"/>
                <a:cs typeface="Times New Roman"/>
              </a:rPr>
              <a:t>Displays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messages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window.</a:t>
            </a:r>
            <a:endParaRPr sz="1400">
              <a:latin typeface="Times New Roman"/>
              <a:cs typeface="Times New Roman"/>
            </a:endParaRPr>
          </a:p>
          <a:p>
            <a:pPr marL="642620" indent="-335915">
              <a:lnSpc>
                <a:spcPct val="100000"/>
              </a:lnSpc>
              <a:buFont typeface="Arial MT"/>
              <a:buChar char="●"/>
              <a:tabLst>
                <a:tab pos="642620" algn="l"/>
              </a:tabLst>
            </a:pPr>
            <a:r>
              <a:rPr sz="1400" dirty="0">
                <a:latin typeface="Times New Roman"/>
                <a:cs typeface="Times New Roman"/>
              </a:rPr>
              <a:t>Sends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receives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requests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backend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fetch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API.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Times New Roman"/>
                <a:cs typeface="Times New Roman"/>
              </a:rPr>
              <a:t>Environment: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Runs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web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browser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(e.g.,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Chrome,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Firefox)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served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simple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HTTP </a:t>
            </a:r>
            <a:r>
              <a:rPr sz="1400" dirty="0">
                <a:latin typeface="Times New Roman"/>
                <a:cs typeface="Times New Roman"/>
              </a:rPr>
              <a:t>server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during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development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integrated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larger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deployment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pipeline.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0981" y="2345965"/>
            <a:ext cx="652924" cy="7912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931649" y="558512"/>
            <a:ext cx="85344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b="1" spc="-25" dirty="0">
                <a:latin typeface="Times New Roman"/>
                <a:cs typeface="Times New Roman"/>
              </a:rPr>
              <a:t>Tech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Stack Frontend: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31649" y="2025362"/>
            <a:ext cx="7467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Backend: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0858" y="1080744"/>
            <a:ext cx="497624" cy="70165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40974" y="1080750"/>
            <a:ext cx="497624" cy="7016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45024" y="1034550"/>
            <a:ext cx="497624" cy="7478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224" y="122420"/>
            <a:ext cx="5296535" cy="497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latin typeface="Times New Roman"/>
                <a:cs typeface="Times New Roman"/>
              </a:rPr>
              <a:t>2.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Backend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Environment</a:t>
            </a:r>
            <a:endParaRPr sz="1300">
              <a:latin typeface="Times New Roman"/>
              <a:cs typeface="Times New Roman"/>
            </a:endParaRPr>
          </a:p>
          <a:p>
            <a:pPr marL="282575" marR="5080" algn="just">
              <a:lnSpc>
                <a:spcPct val="100000"/>
              </a:lnSpc>
            </a:pPr>
            <a:r>
              <a:rPr sz="1300" dirty="0">
                <a:latin typeface="Times New Roman"/>
                <a:cs typeface="Times New Roman"/>
              </a:rPr>
              <a:t>Handles</a:t>
            </a:r>
            <a:r>
              <a:rPr sz="1300" spc="2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2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application's</a:t>
            </a:r>
            <a:r>
              <a:rPr sz="1300" spc="2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business</a:t>
            </a:r>
            <a:r>
              <a:rPr sz="1300" spc="2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logic</a:t>
            </a:r>
            <a:r>
              <a:rPr sz="1300" spc="2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2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processes</a:t>
            </a:r>
            <a:r>
              <a:rPr sz="1300" spc="2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user</a:t>
            </a:r>
            <a:r>
              <a:rPr sz="1300" spc="2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requests</a:t>
            </a:r>
            <a:r>
              <a:rPr sz="1300" spc="24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by </a:t>
            </a:r>
            <a:r>
              <a:rPr sz="1300" dirty="0">
                <a:latin typeface="Times New Roman"/>
                <a:cs typeface="Times New Roman"/>
              </a:rPr>
              <a:t>communicating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with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MistralAI</a:t>
            </a:r>
            <a:r>
              <a:rPr sz="1300" spc="-8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API.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Times New Roman"/>
              <a:cs typeface="Times New Roman"/>
            </a:endParaRPr>
          </a:p>
          <a:p>
            <a:pPr marL="282575" marR="10160" algn="just">
              <a:lnSpc>
                <a:spcPct val="100000"/>
              </a:lnSpc>
            </a:pPr>
            <a:r>
              <a:rPr sz="1300" b="1" dirty="0">
                <a:latin typeface="Times New Roman"/>
                <a:cs typeface="Times New Roman"/>
              </a:rPr>
              <a:t>Flask</a:t>
            </a:r>
            <a:r>
              <a:rPr sz="1300" b="1" spc="1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(Python</a:t>
            </a:r>
            <a:r>
              <a:rPr sz="1300" b="1" spc="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Framework):</a:t>
            </a:r>
            <a:r>
              <a:rPr sz="1300" dirty="0">
                <a:latin typeface="Times New Roman"/>
                <a:cs typeface="Times New Roman"/>
              </a:rPr>
              <a:t>Used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create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RESTful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endpoints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process </a:t>
            </a:r>
            <a:r>
              <a:rPr sz="1300" dirty="0">
                <a:latin typeface="Times New Roman"/>
                <a:cs typeface="Times New Roman"/>
              </a:rPr>
              <a:t>POST</a:t>
            </a:r>
            <a:r>
              <a:rPr sz="1300" spc="-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requests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from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frontend.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Times New Roman"/>
              <a:cs typeface="Times New Roman"/>
            </a:endParaRPr>
          </a:p>
          <a:p>
            <a:pPr marL="282575" marR="6985" algn="just">
              <a:lnSpc>
                <a:spcPct val="100000"/>
              </a:lnSpc>
            </a:pPr>
            <a:r>
              <a:rPr sz="1300" b="1" dirty="0">
                <a:latin typeface="Times New Roman"/>
                <a:cs typeface="Times New Roman"/>
              </a:rPr>
              <a:t>MistralAI</a:t>
            </a:r>
            <a:r>
              <a:rPr sz="1300" b="1" spc="40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API:</a:t>
            </a:r>
            <a:r>
              <a:rPr sz="1300" dirty="0">
                <a:latin typeface="Times New Roman"/>
                <a:cs typeface="Times New Roman"/>
              </a:rPr>
              <a:t>Provides</a:t>
            </a:r>
            <a:r>
              <a:rPr sz="1300" spc="4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natural</a:t>
            </a:r>
            <a:r>
              <a:rPr sz="1300" spc="4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language</a:t>
            </a:r>
            <a:r>
              <a:rPr sz="1300" spc="4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processing</a:t>
            </a:r>
            <a:r>
              <a:rPr sz="1300" spc="48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capabilities.The </a:t>
            </a:r>
            <a:r>
              <a:rPr sz="1300" dirty="0">
                <a:latin typeface="Times New Roman"/>
                <a:cs typeface="Times New Roman"/>
              </a:rPr>
              <a:t>MistralClient</a:t>
            </a:r>
            <a:r>
              <a:rPr sz="1300" spc="17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communicates</a:t>
            </a:r>
            <a:r>
              <a:rPr sz="1300" spc="17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with</a:t>
            </a:r>
            <a:r>
              <a:rPr sz="1300" spc="18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17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MistralAI</a:t>
            </a:r>
            <a:r>
              <a:rPr sz="1300" spc="18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model</a:t>
            </a:r>
            <a:r>
              <a:rPr sz="1300" spc="17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180" dirty="0">
                <a:latin typeface="Times New Roman"/>
                <a:cs typeface="Times New Roman"/>
              </a:rPr>
              <a:t>  </a:t>
            </a:r>
            <a:r>
              <a:rPr sz="1300" spc="-10" dirty="0">
                <a:latin typeface="Times New Roman"/>
                <a:cs typeface="Times New Roman"/>
              </a:rPr>
              <a:t>generate responses.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Times New Roman"/>
              <a:cs typeface="Times New Roman"/>
            </a:endParaRPr>
          </a:p>
          <a:p>
            <a:pPr marL="282575" marR="42545" algn="just">
              <a:lnSpc>
                <a:spcPct val="100000"/>
              </a:lnSpc>
            </a:pPr>
            <a:r>
              <a:rPr sz="1300" b="1" spc="-10" dirty="0">
                <a:latin typeface="Times New Roman"/>
                <a:cs typeface="Times New Roman"/>
              </a:rPr>
              <a:t>Flask-</a:t>
            </a:r>
            <a:r>
              <a:rPr sz="1300" b="1" dirty="0">
                <a:latin typeface="Times New Roman"/>
                <a:cs typeface="Times New Roman"/>
              </a:rPr>
              <a:t>CORS:</a:t>
            </a:r>
            <a:r>
              <a:rPr sz="1300" dirty="0">
                <a:latin typeface="Times New Roman"/>
                <a:cs typeface="Times New Roman"/>
              </a:rPr>
              <a:t>Ensures</a:t>
            </a:r>
            <a:r>
              <a:rPr sz="1300" spc="12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compatibility</a:t>
            </a:r>
            <a:r>
              <a:rPr sz="1300" spc="13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with</a:t>
            </a:r>
            <a:r>
              <a:rPr sz="1300" spc="125" dirty="0">
                <a:latin typeface="Times New Roman"/>
                <a:cs typeface="Times New Roman"/>
              </a:rPr>
              <a:t>  </a:t>
            </a:r>
            <a:r>
              <a:rPr sz="1300" spc="-10" dirty="0">
                <a:latin typeface="Times New Roman"/>
                <a:cs typeface="Times New Roman"/>
              </a:rPr>
              <a:t>frontend-</a:t>
            </a:r>
            <a:r>
              <a:rPr sz="1300" dirty="0">
                <a:latin typeface="Times New Roman"/>
                <a:cs typeface="Times New Roman"/>
              </a:rPr>
              <a:t>origin</a:t>
            </a:r>
            <a:r>
              <a:rPr sz="1300" spc="13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requests</a:t>
            </a:r>
            <a:r>
              <a:rPr sz="1300" spc="130" dirty="0">
                <a:latin typeface="Times New Roman"/>
                <a:cs typeface="Times New Roman"/>
              </a:rPr>
              <a:t>  </a:t>
            </a:r>
            <a:r>
              <a:rPr sz="1300" spc="-25" dirty="0">
                <a:latin typeface="Times New Roman"/>
                <a:cs typeface="Times New Roman"/>
              </a:rPr>
              <a:t>by </a:t>
            </a:r>
            <a:r>
              <a:rPr sz="1300" dirty="0">
                <a:latin typeface="Times New Roman"/>
                <a:cs typeface="Times New Roman"/>
              </a:rPr>
              <a:t>enabling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Cross-Origin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Resource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Sharing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(CORS).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Times New Roman"/>
              <a:cs typeface="Times New Roman"/>
            </a:endParaRPr>
          </a:p>
          <a:p>
            <a:pPr marL="282575">
              <a:lnSpc>
                <a:spcPct val="100000"/>
              </a:lnSpc>
            </a:pPr>
            <a:r>
              <a:rPr sz="1300" b="1" spc="-10" dirty="0">
                <a:latin typeface="Times New Roman"/>
                <a:cs typeface="Times New Roman"/>
              </a:rPr>
              <a:t>Environment:</a:t>
            </a:r>
            <a:endParaRPr sz="1300">
              <a:latin typeface="Times New Roman"/>
              <a:cs typeface="Times New Roman"/>
            </a:endParaRPr>
          </a:p>
          <a:p>
            <a:pPr marL="282575" marR="6350">
              <a:lnSpc>
                <a:spcPct val="100000"/>
              </a:lnSpc>
            </a:pPr>
            <a:r>
              <a:rPr sz="1300" dirty="0">
                <a:latin typeface="Times New Roman"/>
                <a:cs typeface="Times New Roman"/>
              </a:rPr>
              <a:t>Runs</a:t>
            </a:r>
            <a:r>
              <a:rPr sz="1300" spc="25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on</a:t>
            </a:r>
            <a:r>
              <a:rPr sz="1300" spc="25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2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local</a:t>
            </a:r>
            <a:r>
              <a:rPr sz="1300" spc="25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or</a:t>
            </a:r>
            <a:r>
              <a:rPr sz="1300" spc="2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cloud</a:t>
            </a:r>
            <a:r>
              <a:rPr sz="1300" spc="25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server</a:t>
            </a:r>
            <a:r>
              <a:rPr sz="1300" spc="2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(e.g.,</a:t>
            </a:r>
            <a:r>
              <a:rPr sz="1300" spc="25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localhost</a:t>
            </a:r>
            <a:r>
              <a:rPr sz="1300" spc="254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during</a:t>
            </a:r>
            <a:r>
              <a:rPr sz="1300" spc="2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development</a:t>
            </a:r>
            <a:r>
              <a:rPr sz="1300" spc="254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or </a:t>
            </a:r>
            <a:r>
              <a:rPr sz="1300" spc="-10" dirty="0">
                <a:latin typeface="Times New Roman"/>
                <a:cs typeface="Times New Roman"/>
              </a:rPr>
              <a:t>platforms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like</a:t>
            </a:r>
            <a:r>
              <a:rPr sz="1300" spc="-7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AWS,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Google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Cloud,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or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Heroku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production).</a:t>
            </a:r>
            <a:endParaRPr sz="1300">
              <a:latin typeface="Times New Roman"/>
              <a:cs typeface="Times New Roman"/>
            </a:endParaRPr>
          </a:p>
          <a:p>
            <a:pPr marL="282575" marR="5080">
              <a:lnSpc>
                <a:spcPct val="100000"/>
              </a:lnSpc>
              <a:tabLst>
                <a:tab pos="998855" algn="l"/>
                <a:tab pos="1597025" algn="l"/>
                <a:tab pos="2025650" algn="l"/>
                <a:tab pos="2449195" algn="l"/>
                <a:tab pos="3467735" algn="l"/>
                <a:tab pos="4157345" algn="l"/>
                <a:tab pos="4488180" algn="l"/>
                <a:tab pos="4829175" algn="l"/>
              </a:tabLst>
            </a:pPr>
            <a:r>
              <a:rPr sz="1300" spc="-10" dirty="0">
                <a:latin typeface="Times New Roman"/>
                <a:cs typeface="Times New Roman"/>
              </a:rPr>
              <a:t>Requires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10" dirty="0">
                <a:latin typeface="Times New Roman"/>
                <a:cs typeface="Times New Roman"/>
              </a:rPr>
              <a:t>Python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20" dirty="0">
                <a:latin typeface="Times New Roman"/>
                <a:cs typeface="Times New Roman"/>
              </a:rPr>
              <a:t>3.7+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20" dirty="0">
                <a:latin typeface="Times New Roman"/>
                <a:cs typeface="Times New Roman"/>
              </a:rPr>
              <a:t>with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10" dirty="0">
                <a:latin typeface="Times New Roman"/>
                <a:cs typeface="Times New Roman"/>
              </a:rPr>
              <a:t>dependencies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10" dirty="0">
                <a:latin typeface="Times New Roman"/>
                <a:cs typeface="Times New Roman"/>
              </a:rPr>
              <a:t>installed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25" dirty="0">
                <a:latin typeface="Times New Roman"/>
                <a:cs typeface="Times New Roman"/>
              </a:rPr>
              <a:t>via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25" dirty="0">
                <a:latin typeface="Times New Roman"/>
                <a:cs typeface="Times New Roman"/>
              </a:rPr>
              <a:t>pip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10" dirty="0">
                <a:latin typeface="Times New Roman"/>
                <a:cs typeface="Times New Roman"/>
              </a:rPr>
              <a:t>(Flask, </a:t>
            </a:r>
            <a:r>
              <a:rPr sz="1300" dirty="0">
                <a:latin typeface="Times New Roman"/>
                <a:cs typeface="Times New Roman"/>
              </a:rPr>
              <a:t>Flask-CORS, MistralAI </a:t>
            </a:r>
            <a:r>
              <a:rPr sz="1300" spc="-10" dirty="0">
                <a:latin typeface="Times New Roman"/>
                <a:cs typeface="Times New Roman"/>
              </a:rPr>
              <a:t>SDK).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Times New Roman"/>
              <a:cs typeface="Times New Roman"/>
            </a:endParaRPr>
          </a:p>
          <a:p>
            <a:pPr marL="282575">
              <a:lnSpc>
                <a:spcPct val="100000"/>
              </a:lnSpc>
            </a:pPr>
            <a:r>
              <a:rPr sz="1300" b="1" spc="-10" dirty="0">
                <a:latin typeface="Times New Roman"/>
                <a:cs typeface="Times New Roman"/>
              </a:rPr>
              <a:t>Configuration:</a:t>
            </a:r>
            <a:endParaRPr sz="1300">
              <a:latin typeface="Times New Roman"/>
              <a:cs typeface="Times New Roman"/>
            </a:endParaRPr>
          </a:p>
          <a:p>
            <a:pPr marL="282575" marR="22225">
              <a:lnSpc>
                <a:spcPct val="100000"/>
              </a:lnSpc>
            </a:pPr>
            <a:r>
              <a:rPr sz="1300" dirty="0">
                <a:latin typeface="Times New Roman"/>
                <a:cs typeface="Times New Roman"/>
              </a:rPr>
              <a:t>API</a:t>
            </a:r>
            <a:r>
              <a:rPr sz="1300" spc="2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Key: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</a:t>
            </a:r>
            <a:r>
              <a:rPr sz="1300" spc="1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API</a:t>
            </a:r>
            <a:r>
              <a:rPr sz="1300" spc="2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key</a:t>
            </a:r>
            <a:r>
              <a:rPr sz="1300" spc="2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</a:t>
            </a:r>
            <a:r>
              <a:rPr sz="1300" spc="2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required</a:t>
            </a:r>
            <a:r>
              <a:rPr sz="1300" spc="2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2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authenticating</a:t>
            </a:r>
            <a:r>
              <a:rPr sz="1300" spc="2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with</a:t>
            </a:r>
            <a:r>
              <a:rPr sz="1300" spc="2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2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MistralAI service.</a:t>
            </a:r>
            <a:endParaRPr sz="1300">
              <a:latin typeface="Times New Roman"/>
              <a:cs typeface="Times New Roman"/>
            </a:endParaRPr>
          </a:p>
          <a:p>
            <a:pPr marL="282575" marR="12700">
              <a:lnSpc>
                <a:spcPct val="100000"/>
              </a:lnSpc>
            </a:pPr>
            <a:r>
              <a:rPr sz="1300" dirty="0">
                <a:latin typeface="Times New Roman"/>
                <a:cs typeface="Times New Roman"/>
              </a:rPr>
              <a:t>Debugging:</a:t>
            </a:r>
            <a:r>
              <a:rPr sz="1300" spc="12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Enabled</a:t>
            </a:r>
            <a:r>
              <a:rPr sz="1300" spc="12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12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development</a:t>
            </a:r>
            <a:r>
              <a:rPr sz="1300" spc="12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mode</a:t>
            </a:r>
            <a:r>
              <a:rPr sz="1300" spc="125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(debug=True)</a:t>
            </a:r>
            <a:r>
              <a:rPr sz="1300" spc="120" dirty="0">
                <a:latin typeface="Times New Roman"/>
                <a:cs typeface="Times New Roman"/>
              </a:rPr>
              <a:t>  </a:t>
            </a: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120" dirty="0">
                <a:latin typeface="Times New Roman"/>
                <a:cs typeface="Times New Roman"/>
              </a:rPr>
              <a:t>  </a:t>
            </a:r>
            <a:r>
              <a:rPr sz="1300" spc="-10" dirty="0">
                <a:latin typeface="Times New Roman"/>
                <a:cs typeface="Times New Roman"/>
              </a:rPr>
              <a:t>easier troubleshooting.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5500" y="108925"/>
            <a:ext cx="3217401" cy="4799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1" y="272215"/>
            <a:ext cx="2487052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70" dirty="0"/>
              <a:t> </a:t>
            </a:r>
            <a:r>
              <a:rPr spc="-10" dirty="0"/>
              <a:t>Details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3250" y="2571750"/>
            <a:ext cx="689924" cy="4925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00278" y="2602164"/>
            <a:ext cx="431799" cy="4317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6274" y="856829"/>
            <a:ext cx="8426450" cy="345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" indent="-146050">
              <a:lnSpc>
                <a:spcPct val="100000"/>
              </a:lnSpc>
              <a:spcBef>
                <a:spcPts val="100"/>
              </a:spcBef>
              <a:buSzPct val="93333"/>
              <a:buAutoNum type="arabicPeriod" startAt="3"/>
              <a:tabLst>
                <a:tab pos="154305" algn="l"/>
              </a:tabLst>
            </a:pPr>
            <a:r>
              <a:rPr sz="1500" b="1" spc="-10" dirty="0">
                <a:latin typeface="Times New Roman"/>
                <a:cs typeface="Times New Roman"/>
              </a:rPr>
              <a:t>Communication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Between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Frontend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and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Backend</a:t>
            </a:r>
            <a:endParaRPr sz="15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</a:pPr>
            <a:r>
              <a:rPr sz="1500" b="1" spc="-10" dirty="0">
                <a:latin typeface="Times New Roman"/>
                <a:cs typeface="Times New Roman"/>
              </a:rPr>
              <a:t>Frontend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sends: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POST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request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/uppercase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endpoint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backend,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containing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user’s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message.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</a:pPr>
            <a:r>
              <a:rPr sz="1500" b="1" dirty="0">
                <a:latin typeface="Times New Roman"/>
                <a:cs typeface="Times New Roman"/>
              </a:rPr>
              <a:t>Backend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processes: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message,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sends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MistralAI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response,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formats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response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JSON.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</a:pPr>
            <a:r>
              <a:rPr sz="1500" b="1" spc="-10" dirty="0">
                <a:latin typeface="Times New Roman"/>
                <a:cs typeface="Times New Roman"/>
              </a:rPr>
              <a:t>Frontend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receives: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The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AI-generated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response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displays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chat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window.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0">
              <a:latin typeface="Times New Roman"/>
              <a:cs typeface="Times New Roman"/>
            </a:endParaRPr>
          </a:p>
          <a:p>
            <a:pPr marL="203200" indent="-190500">
              <a:lnSpc>
                <a:spcPct val="100000"/>
              </a:lnSpc>
              <a:buSzPct val="93333"/>
              <a:buAutoNum type="arabicPeriod" startAt="4"/>
              <a:tabLst>
                <a:tab pos="203200" algn="l"/>
              </a:tabLst>
            </a:pPr>
            <a:r>
              <a:rPr sz="1500" b="1" dirty="0">
                <a:latin typeface="Times New Roman"/>
                <a:cs typeface="Times New Roman"/>
              </a:rPr>
              <a:t>Development </a:t>
            </a:r>
            <a:r>
              <a:rPr sz="1500" b="1" spc="-10" dirty="0">
                <a:latin typeface="Times New Roman"/>
                <a:cs typeface="Times New Roman"/>
              </a:rPr>
              <a:t>Environment</a:t>
            </a:r>
            <a:endParaRPr sz="15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</a:pPr>
            <a:r>
              <a:rPr sz="1500" b="1" dirty="0">
                <a:latin typeface="Times New Roman"/>
                <a:cs typeface="Times New Roman"/>
              </a:rPr>
              <a:t>Code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Editor: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Visual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Studio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Code,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PyCharm,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preferred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IDE.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</a:pPr>
            <a:r>
              <a:rPr sz="1500" b="1" dirty="0">
                <a:latin typeface="Times New Roman"/>
                <a:cs typeface="Times New Roman"/>
              </a:rPr>
              <a:t>Local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Server:</a:t>
            </a:r>
            <a:endParaRPr sz="1500">
              <a:latin typeface="Times New Roman"/>
              <a:cs typeface="Times New Roman"/>
            </a:endParaRPr>
          </a:p>
          <a:p>
            <a:pPr marL="192405" marR="2109470">
              <a:lnSpc>
                <a:spcPct val="100000"/>
              </a:lnSpc>
            </a:pPr>
            <a:r>
              <a:rPr sz="1500" dirty="0">
                <a:latin typeface="Times New Roman"/>
                <a:cs typeface="Times New Roman"/>
              </a:rPr>
              <a:t>Frontend: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Live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Server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extension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simple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HTTP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server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(python</a:t>
            </a:r>
            <a:r>
              <a:rPr sz="1500" spc="-10" dirty="0">
                <a:latin typeface="Times New Roman"/>
                <a:cs typeface="Times New Roman"/>
              </a:rPr>
              <a:t> -</a:t>
            </a:r>
            <a:r>
              <a:rPr sz="1500" dirty="0">
                <a:latin typeface="Times New Roman"/>
                <a:cs typeface="Times New Roman"/>
              </a:rPr>
              <a:t>m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http.server). </a:t>
            </a:r>
            <a:r>
              <a:rPr sz="1500" dirty="0">
                <a:latin typeface="Times New Roman"/>
                <a:cs typeface="Times New Roman"/>
              </a:rPr>
              <a:t>Backend: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Run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Flask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app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(python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app.py).</a:t>
            </a:r>
            <a:endParaRPr sz="1500">
              <a:latin typeface="Times New Roman"/>
              <a:cs typeface="Times New Roman"/>
            </a:endParaRPr>
          </a:p>
          <a:p>
            <a:pPr marL="192405" marR="2320925">
              <a:lnSpc>
                <a:spcPct val="100000"/>
              </a:lnSpc>
            </a:pPr>
            <a:r>
              <a:rPr sz="1500" dirty="0">
                <a:latin typeface="Times New Roman"/>
                <a:cs typeface="Times New Roman"/>
              </a:rPr>
              <a:t>Package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Manager: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pip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installing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Flask,</a:t>
            </a:r>
            <a:r>
              <a:rPr sz="1500" spc="-10" dirty="0">
                <a:latin typeface="Times New Roman"/>
                <a:cs typeface="Times New Roman"/>
              </a:rPr>
              <a:t> Flask-</a:t>
            </a:r>
            <a:r>
              <a:rPr sz="1500" dirty="0">
                <a:latin typeface="Times New Roman"/>
                <a:cs typeface="Times New Roman"/>
              </a:rPr>
              <a:t>CORS,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MistralAI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SDK. </a:t>
            </a:r>
            <a:r>
              <a:rPr sz="1500" spc="-10" dirty="0">
                <a:latin typeface="Times New Roman"/>
                <a:cs typeface="Times New Roman"/>
              </a:rPr>
              <a:t>Browser: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testing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frontend.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811" y="395825"/>
            <a:ext cx="7176624" cy="273687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22865" y="3060505"/>
            <a:ext cx="8985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Home </a:t>
            </a:r>
            <a:r>
              <a:rPr sz="1500" spc="-20" dirty="0">
                <a:latin typeface="Times New Roman"/>
                <a:cs typeface="Times New Roman"/>
              </a:rPr>
              <a:t>page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0749" y="3465637"/>
            <a:ext cx="2198651" cy="15769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72675" y="3469421"/>
            <a:ext cx="2198649" cy="156935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34600" y="3481463"/>
            <a:ext cx="2198649" cy="154526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397554" y="63880"/>
            <a:ext cx="2119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Therapistbot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Website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3799" y="1036101"/>
            <a:ext cx="8296909" cy="21852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160" algn="just">
              <a:lnSpc>
                <a:spcPct val="100000"/>
              </a:lnSpc>
              <a:spcBef>
                <a:spcPts val="100"/>
              </a:spcBef>
            </a:pP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3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combination</a:t>
            </a:r>
            <a:r>
              <a:rPr sz="1550" spc="3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3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conversational</a:t>
            </a:r>
            <a:r>
              <a:rPr sz="1550" spc="229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AI,</a:t>
            </a:r>
            <a:r>
              <a:rPr sz="1550" spc="3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</a:t>
            </a:r>
            <a:r>
              <a:rPr sz="1550" spc="3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intuitive</a:t>
            </a:r>
            <a:r>
              <a:rPr sz="1550" spc="3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chat</a:t>
            </a:r>
            <a:r>
              <a:rPr sz="1550" spc="3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interface,</a:t>
            </a:r>
            <a:r>
              <a:rPr sz="1550" spc="3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3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3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particular</a:t>
            </a:r>
            <a:r>
              <a:rPr sz="1550" spc="3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application</a:t>
            </a:r>
            <a:r>
              <a:rPr sz="1550" spc="320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of </a:t>
            </a:r>
            <a:r>
              <a:rPr sz="1550" dirty="0">
                <a:latin typeface="Times New Roman"/>
                <a:cs typeface="Times New Roman"/>
              </a:rPr>
              <a:t>MistralAI's tiny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language model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response delivery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makes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this project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special.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What sets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apart </a:t>
            </a:r>
            <a:r>
              <a:rPr sz="1550" spc="-20" dirty="0">
                <a:latin typeface="Times New Roman"/>
                <a:cs typeface="Times New Roman"/>
              </a:rPr>
              <a:t>from </a:t>
            </a:r>
            <a:r>
              <a:rPr sz="1550" dirty="0">
                <a:latin typeface="Times New Roman"/>
                <a:cs typeface="Times New Roman"/>
              </a:rPr>
              <a:t>other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solutions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as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follows:</a:t>
            </a:r>
            <a:endParaRPr sz="15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2700" marR="60325" indent="-4445">
              <a:lnSpc>
                <a:spcPct val="100000"/>
              </a:lnSpc>
              <a:buSzPct val="93548"/>
              <a:buAutoNum type="arabicPeriod"/>
              <a:tabLst>
                <a:tab pos="158750" algn="l"/>
                <a:tab pos="1685925" algn="l"/>
                <a:tab pos="2971800" algn="l"/>
                <a:tab pos="3745865" algn="l"/>
                <a:tab pos="3955415" algn="l"/>
                <a:tab pos="4401185" algn="l"/>
                <a:tab pos="5196840" algn="l"/>
                <a:tab pos="5675630" algn="l"/>
                <a:tab pos="6703695" algn="l"/>
                <a:tab pos="7334884" algn="l"/>
                <a:tab pos="7627620" algn="l"/>
              </a:tabLst>
            </a:pPr>
            <a:r>
              <a:rPr sz="1550" b="1" spc="-10" dirty="0">
                <a:latin typeface="Times New Roman"/>
                <a:cs typeface="Times New Roman"/>
              </a:rPr>
              <a:t>	Domain-Specific</a:t>
            </a:r>
            <a:r>
              <a:rPr sz="1550" b="1" dirty="0">
                <a:latin typeface="Times New Roman"/>
                <a:cs typeface="Times New Roman"/>
              </a:rPr>
              <a:t>	</a:t>
            </a:r>
            <a:r>
              <a:rPr sz="1550" b="1" spc="-10" dirty="0">
                <a:latin typeface="Times New Roman"/>
                <a:cs typeface="Times New Roman"/>
              </a:rPr>
              <a:t>Focus-Special</a:t>
            </a:r>
            <a:r>
              <a:rPr sz="1550" b="1" dirty="0">
                <a:latin typeface="Times New Roman"/>
                <a:cs typeface="Times New Roman"/>
              </a:rPr>
              <a:t>	</a:t>
            </a:r>
            <a:r>
              <a:rPr sz="1550" b="1" spc="-10" dirty="0">
                <a:latin typeface="Times New Roman"/>
                <a:cs typeface="Times New Roman"/>
              </a:rPr>
              <a:t>Aspect:</a:t>
            </a:r>
            <a:r>
              <a:rPr sz="1550" b="1" dirty="0">
                <a:latin typeface="Times New Roman"/>
                <a:cs typeface="Times New Roman"/>
              </a:rPr>
              <a:t>	</a:t>
            </a:r>
            <a:r>
              <a:rPr sz="1550" b="1" spc="-50" dirty="0">
                <a:latin typeface="Times New Roman"/>
                <a:cs typeface="Times New Roman"/>
              </a:rPr>
              <a:t>-</a:t>
            </a:r>
            <a:r>
              <a:rPr sz="1550" b="1" dirty="0">
                <a:latin typeface="Times New Roman"/>
                <a:cs typeface="Times New Roman"/>
              </a:rPr>
              <a:t>	</a:t>
            </a:r>
            <a:r>
              <a:rPr sz="1550" spc="-25" dirty="0">
                <a:latin typeface="Times New Roman"/>
                <a:cs typeface="Times New Roman"/>
              </a:rPr>
              <a:t>The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10" dirty="0">
                <a:latin typeface="Times New Roman"/>
                <a:cs typeface="Times New Roman"/>
              </a:rPr>
              <a:t>backend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20" dirty="0">
                <a:latin typeface="Times New Roman"/>
                <a:cs typeface="Times New Roman"/>
              </a:rPr>
              <a:t>uses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10" dirty="0">
                <a:latin typeface="Times New Roman"/>
                <a:cs typeface="Times New Roman"/>
              </a:rPr>
              <a:t>MistralAI's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10" dirty="0">
                <a:latin typeface="Times New Roman"/>
                <a:cs typeface="Times New Roman"/>
              </a:rPr>
              <a:t>model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25" dirty="0">
                <a:latin typeface="Times New Roman"/>
                <a:cs typeface="Times New Roman"/>
              </a:rPr>
              <a:t>to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10" dirty="0">
                <a:latin typeface="Times New Roman"/>
                <a:cs typeface="Times New Roman"/>
              </a:rPr>
              <a:t>provide domain-</a:t>
            </a:r>
            <a:r>
              <a:rPr sz="1550" dirty="0">
                <a:latin typeface="Times New Roman"/>
                <a:cs typeface="Times New Roman"/>
              </a:rPr>
              <a:t>specific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responses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by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instructing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the</a:t>
            </a:r>
            <a:r>
              <a:rPr sz="1550" spc="-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AI to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function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as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-10" dirty="0">
                <a:latin typeface="Times New Roman"/>
                <a:cs typeface="Times New Roman"/>
              </a:rPr>
              <a:t> psychologist.</a:t>
            </a:r>
            <a:endParaRPr sz="15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2700" marR="36195" indent="206375">
              <a:lnSpc>
                <a:spcPct val="100000"/>
              </a:lnSpc>
              <a:buSzPct val="93548"/>
              <a:buAutoNum type="arabicPeriod" startAt="2"/>
              <a:tabLst>
                <a:tab pos="219075" algn="l"/>
              </a:tabLst>
            </a:pPr>
            <a:r>
              <a:rPr sz="1550" b="1" dirty="0">
                <a:latin typeface="Times New Roman"/>
                <a:cs typeface="Times New Roman"/>
              </a:rPr>
              <a:t>Lightweight</a:t>
            </a:r>
            <a:r>
              <a:rPr sz="1550" b="1" spc="-2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AI</a:t>
            </a:r>
            <a:r>
              <a:rPr sz="1550" b="1" spc="65" dirty="0">
                <a:latin typeface="Times New Roman"/>
                <a:cs typeface="Times New Roman"/>
              </a:rPr>
              <a:t> </a:t>
            </a:r>
            <a:r>
              <a:rPr sz="1550" b="1" spc="-10" dirty="0">
                <a:latin typeface="Times New Roman"/>
                <a:cs typeface="Times New Roman"/>
              </a:rPr>
              <a:t>Integration-</a:t>
            </a:r>
            <a:r>
              <a:rPr sz="1550" b="1" dirty="0">
                <a:latin typeface="Times New Roman"/>
                <a:cs typeface="Times New Roman"/>
              </a:rPr>
              <a:t>Special</a:t>
            </a:r>
            <a:r>
              <a:rPr sz="1550" b="1" spc="-2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Aspect</a:t>
            </a:r>
            <a:r>
              <a:rPr sz="1550" dirty="0">
                <a:latin typeface="Times New Roman"/>
                <a:cs typeface="Times New Roman"/>
              </a:rPr>
              <a:t>: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-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Mistral-</a:t>
            </a:r>
            <a:r>
              <a:rPr sz="1550" dirty="0">
                <a:latin typeface="Times New Roman"/>
                <a:cs typeface="Times New Roman"/>
              </a:rPr>
              <a:t>small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model,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lightweight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substitute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for </a:t>
            </a:r>
            <a:r>
              <a:rPr sz="1550" dirty="0">
                <a:latin typeface="Times New Roman"/>
                <a:cs typeface="Times New Roman"/>
              </a:rPr>
              <a:t>larger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models,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is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used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this</a:t>
            </a:r>
            <a:r>
              <a:rPr sz="1550" spc="-10" dirty="0">
                <a:latin typeface="Times New Roman"/>
                <a:cs typeface="Times New Roman"/>
              </a:rPr>
              <a:t> project.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Significance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52400" y="361950"/>
            <a:ext cx="6447501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168154"/>
            <a:ext cx="8194040" cy="24468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friendly: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347980" indent="-335280">
              <a:lnSpc>
                <a:spcPct val="100000"/>
              </a:lnSpc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Times New Roman"/>
                <a:cs typeface="Times New Roman"/>
              </a:rPr>
              <a:t>Dynamic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Communications: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347980" indent="-335280">
              <a:lnSpc>
                <a:spcPct val="100000"/>
              </a:lnSpc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Times New Roman"/>
                <a:cs typeface="Times New Roman"/>
              </a:rPr>
              <a:t>Compatibility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Across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Devices: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347980" indent="-335280">
              <a:lnSpc>
                <a:spcPct val="100000"/>
              </a:lnSpc>
              <a:buFont typeface="Arial"/>
              <a:buChar char="●"/>
              <a:tabLst>
                <a:tab pos="347980" algn="l"/>
              </a:tabLst>
            </a:pPr>
            <a:r>
              <a:rPr sz="1400" spc="-10" dirty="0">
                <a:latin typeface="Times New Roman"/>
                <a:cs typeface="Times New Roman"/>
              </a:rPr>
              <a:t>Behavior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Scrolling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Bottom: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347980" indent="-335280">
              <a:lnSpc>
                <a:spcPct val="100000"/>
              </a:lnSpc>
              <a:buFont typeface="Arial"/>
              <a:buChar char="●"/>
              <a:tabLst>
                <a:tab pos="347980" algn="l"/>
              </a:tabLst>
            </a:pPr>
            <a:r>
              <a:rPr sz="1400" spc="-10" dirty="0">
                <a:latin typeface="Times New Roman"/>
                <a:cs typeface="Times New Roman"/>
              </a:rPr>
              <a:t>Interactive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Entry: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347980" indent="-335280">
              <a:lnSpc>
                <a:spcPct val="100000"/>
              </a:lnSpc>
              <a:buFont typeface="Arial"/>
              <a:buChar char="●"/>
              <a:tabLst>
                <a:tab pos="347980" algn="l"/>
              </a:tabLst>
            </a:pPr>
            <a:r>
              <a:rPr sz="1400" spc="-20" dirty="0">
                <a:latin typeface="Times New Roman"/>
                <a:cs typeface="Times New Roman"/>
              </a:rPr>
              <a:t>Personalized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Prompting</a:t>
            </a:r>
            <a:r>
              <a:rPr sz="1400" spc="-10" dirty="0" smtClean="0">
                <a:latin typeface="Times New Roman"/>
                <a:cs typeface="Times New Roman"/>
              </a:rPr>
              <a:t>: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62865"/>
            <a:ext cx="2308437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25" y="434108"/>
            <a:ext cx="8851265" cy="4462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895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Empathetic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Chatbot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compassionate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digital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companion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built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offer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emotional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support,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mental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clarity,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motivation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times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stress,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self-doubt,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uncertainty.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creates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non-judgmental,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safe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space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express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their </a:t>
            </a:r>
            <a:r>
              <a:rPr sz="1400" dirty="0">
                <a:latin typeface="Times New Roman"/>
                <a:cs typeface="Times New Roman"/>
              </a:rPr>
              <a:t>feelings,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whether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they’re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overwhelmed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life’s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challenges,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feeling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unmotivated,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simply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someone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listen.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At </a:t>
            </a:r>
            <a:r>
              <a:rPr sz="1400" dirty="0">
                <a:latin typeface="Times New Roman"/>
                <a:cs typeface="Times New Roman"/>
              </a:rPr>
              <a:t>its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core,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chatbot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understands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complexities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human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emotions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understanding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respond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empathy, </a:t>
            </a:r>
            <a:r>
              <a:rPr sz="1400" dirty="0">
                <a:latin typeface="Times New Roman"/>
                <a:cs typeface="Times New Roman"/>
              </a:rPr>
              <a:t>mindfulness,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encouragement.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1400" b="1" spc="-10" dirty="0">
                <a:latin typeface="Times New Roman"/>
                <a:cs typeface="Times New Roman"/>
              </a:rPr>
              <a:t>Problem:</a:t>
            </a:r>
            <a:endParaRPr sz="1400">
              <a:latin typeface="Times New Roman"/>
              <a:cs typeface="Times New Roman"/>
            </a:endParaRPr>
          </a:p>
          <a:p>
            <a:pPr marL="469900" marR="5080" indent="-361950">
              <a:lnSpc>
                <a:spcPct val="114999"/>
              </a:lnSpc>
              <a:spcBef>
                <a:spcPts val="1200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sz="1400" b="1" dirty="0">
                <a:latin typeface="Times New Roman"/>
                <a:cs typeface="Times New Roman"/>
              </a:rPr>
              <a:t>Stigma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Shame: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individuals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still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feel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uncomfortable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embarrassed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about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seeking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help,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which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prevent </a:t>
            </a:r>
            <a:r>
              <a:rPr sz="1400" dirty="0">
                <a:latin typeface="Times New Roman"/>
                <a:cs typeface="Times New Roman"/>
              </a:rPr>
              <a:t>them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accessing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therapy.</a:t>
            </a:r>
            <a:endParaRPr sz="1400">
              <a:latin typeface="Times New Roman"/>
              <a:cs typeface="Times New Roman"/>
            </a:endParaRPr>
          </a:p>
          <a:p>
            <a:pPr marL="469900" marR="224790" indent="-361950">
              <a:lnSpc>
                <a:spcPct val="114999"/>
              </a:lnSpc>
              <a:buFont typeface="Times New Roman"/>
              <a:buAutoNum type="arabicPeriod"/>
              <a:tabLst>
                <a:tab pos="46990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Accessibility: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Traditional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therapy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services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expensive,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difficult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rural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areas,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long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waiting </a:t>
            </a:r>
            <a:r>
              <a:rPr sz="1400" dirty="0">
                <a:latin typeface="Times New Roman"/>
                <a:cs typeface="Times New Roman"/>
              </a:rPr>
              <a:t>times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appointments.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1400" b="1" spc="-10" dirty="0">
                <a:latin typeface="Times New Roman"/>
                <a:cs typeface="Times New Roman"/>
              </a:rPr>
              <a:t>Solution:</a:t>
            </a:r>
            <a:endParaRPr sz="1400">
              <a:latin typeface="Times New Roman"/>
              <a:cs typeface="Times New Roman"/>
            </a:endParaRPr>
          </a:p>
          <a:p>
            <a:pPr marL="469900" marR="11430" lvl="1" indent="-361950" algn="just"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sz="1400" b="1" dirty="0">
                <a:latin typeface="Times New Roman"/>
                <a:cs typeface="Times New Roman"/>
              </a:rPr>
              <a:t>Empathetic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Listening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&amp;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Emotional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Support: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Therapistbot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serves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compassionate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companion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listens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to </a:t>
            </a:r>
            <a:r>
              <a:rPr sz="1400" dirty="0">
                <a:latin typeface="Times New Roman"/>
                <a:cs typeface="Times New Roman"/>
              </a:rPr>
              <a:t>users'</a:t>
            </a:r>
            <a:r>
              <a:rPr sz="1400" spc="450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Times New Roman"/>
                <a:cs typeface="Times New Roman"/>
              </a:rPr>
              <a:t>concerns,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offering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them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judgment-</a:t>
            </a:r>
            <a:r>
              <a:rPr sz="1400" dirty="0">
                <a:latin typeface="Times New Roman"/>
                <a:cs typeface="Times New Roman"/>
              </a:rPr>
              <a:t>free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space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express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their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feelings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thoughts.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acknowledging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validating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emotions,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provides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sense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relief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comfort.</a:t>
            </a:r>
            <a:endParaRPr sz="1400">
              <a:latin typeface="Times New Roman"/>
              <a:cs typeface="Times New Roman"/>
            </a:endParaRPr>
          </a:p>
          <a:p>
            <a:pPr marL="469900" marR="190500" lvl="1" indent="-361950">
              <a:lnSpc>
                <a:spcPct val="100000"/>
              </a:lnSpc>
              <a:buFont typeface="Times New Roman"/>
              <a:buAutoNum type="arabicPeriod"/>
              <a:tabLst>
                <a:tab pos="46990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Personalized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Guidance: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The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advanced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algorithms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understand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respond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user's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emotional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state, </a:t>
            </a:r>
            <a:r>
              <a:rPr sz="1400" dirty="0">
                <a:latin typeface="Times New Roman"/>
                <a:cs typeface="Times New Roman"/>
              </a:rPr>
              <a:t>offering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personalized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support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based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individual's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unique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feelings,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struggles,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needs.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provide </a:t>
            </a:r>
            <a:r>
              <a:rPr sz="1400" dirty="0">
                <a:latin typeface="Times New Roman"/>
                <a:cs typeface="Times New Roman"/>
              </a:rPr>
              <a:t>motivational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messages,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coping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strategies,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reflective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responses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tailored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user’s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specific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situation.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0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9095" marR="38735" indent="-367030">
              <a:lnSpc>
                <a:spcPct val="100699"/>
              </a:lnSpc>
              <a:spcBef>
                <a:spcPts val="85"/>
              </a:spcBef>
              <a:buClr>
                <a:srgbClr val="000000"/>
              </a:buClr>
              <a:buChar char="●"/>
              <a:tabLst>
                <a:tab pos="379095" algn="l"/>
              </a:tabLst>
            </a:pPr>
            <a:r>
              <a:rPr spc="-10" dirty="0">
                <a:hlinkClick r:id="rId2"/>
              </a:rPr>
              <a:t>https://www.who.int/news-</a:t>
            </a:r>
            <a:r>
              <a:rPr dirty="0">
                <a:hlinkClick r:id="rId2"/>
              </a:rPr>
              <a:t>room/fact-sheets/detail/mental-health-</a:t>
            </a:r>
            <a:r>
              <a:rPr spc="-10" dirty="0">
                <a:hlinkClick r:id="rId2"/>
              </a:rPr>
              <a:t>strengthening-</a:t>
            </a:r>
            <a:r>
              <a:rPr u="none" spc="-10" dirty="0"/>
              <a:t> </a:t>
            </a:r>
            <a:r>
              <a:rPr spc="-10" dirty="0">
                <a:hlinkClick r:id="rId2"/>
              </a:rPr>
              <a:t>our-response</a:t>
            </a: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●"/>
            </a:pPr>
            <a:endParaRPr spc="-10" dirty="0">
              <a:hlinkClick r:id="rId2"/>
            </a:endParaRPr>
          </a:p>
          <a:p>
            <a:pPr marL="379095" indent="-366395">
              <a:lnSpc>
                <a:spcPct val="100000"/>
              </a:lnSpc>
              <a:buClr>
                <a:srgbClr val="000000"/>
              </a:buClr>
              <a:buChar char="●"/>
              <a:tabLst>
                <a:tab pos="379095" algn="l"/>
              </a:tabLst>
            </a:pPr>
            <a:r>
              <a:rPr spc="-10" dirty="0">
                <a:hlinkClick r:id="rId3"/>
              </a:rPr>
              <a:t>https://medlineplus.gov/mentalhealth.html</a:t>
            </a: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●"/>
            </a:pPr>
            <a:endParaRPr spc="-10" dirty="0">
              <a:hlinkClick r:id="rId3"/>
            </a:endParaRPr>
          </a:p>
          <a:p>
            <a:pPr marL="379095" indent="-366395">
              <a:lnSpc>
                <a:spcPct val="100000"/>
              </a:lnSpc>
              <a:buClr>
                <a:srgbClr val="000000"/>
              </a:buClr>
              <a:buChar char="●"/>
              <a:tabLst>
                <a:tab pos="379095" algn="l"/>
              </a:tabLst>
            </a:pPr>
            <a:r>
              <a:rPr spc="-10" dirty="0">
                <a:hlinkClick r:id="rId4"/>
              </a:rPr>
              <a:t>https://www.nimh.nih.gov/</a:t>
            </a: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●"/>
            </a:pPr>
            <a:endParaRPr spc="-10" dirty="0">
              <a:hlinkClick r:id="rId4"/>
            </a:endParaRPr>
          </a:p>
          <a:p>
            <a:pPr marL="379095" marR="5080" indent="-367030">
              <a:lnSpc>
                <a:spcPct val="100699"/>
              </a:lnSpc>
              <a:buClr>
                <a:srgbClr val="000000"/>
              </a:buClr>
              <a:buChar char="●"/>
              <a:tabLst>
                <a:tab pos="379095" algn="l"/>
              </a:tabLst>
            </a:pPr>
            <a:r>
              <a:rPr spc="-10" dirty="0">
                <a:hlinkClick r:id="rId5"/>
              </a:rPr>
              <a:t>https://www.betterhealth.vic.gov.au/health/servicesandsupport/types-</a:t>
            </a:r>
            <a:r>
              <a:rPr dirty="0">
                <a:hlinkClick r:id="rId5"/>
              </a:rPr>
              <a:t>of-</a:t>
            </a:r>
            <a:r>
              <a:rPr spc="-10" dirty="0">
                <a:hlinkClick r:id="rId5"/>
              </a:rPr>
              <a:t>mental-</a:t>
            </a:r>
            <a:r>
              <a:rPr u="none" spc="-10" dirty="0"/>
              <a:t> </a:t>
            </a:r>
            <a:r>
              <a:rPr dirty="0">
                <a:hlinkClick r:id="rId5"/>
              </a:rPr>
              <a:t>health-issues-and-</a:t>
            </a:r>
            <a:r>
              <a:rPr spc="-10" dirty="0">
                <a:hlinkClick r:id="rId5"/>
              </a:rPr>
              <a:t>illnesses</a:t>
            </a: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●"/>
            </a:pPr>
            <a:endParaRPr spc="-10" dirty="0">
              <a:hlinkClick r:id="rId5"/>
            </a:endParaRPr>
          </a:p>
          <a:p>
            <a:pPr marL="379095" indent="-366395">
              <a:lnSpc>
                <a:spcPct val="100000"/>
              </a:lnSpc>
              <a:buClr>
                <a:srgbClr val="000000"/>
              </a:buClr>
              <a:buChar char="●"/>
              <a:tabLst>
                <a:tab pos="379095" algn="l"/>
              </a:tabLst>
            </a:pPr>
            <a:r>
              <a:rPr spc="-10" dirty="0">
                <a:hlinkClick r:id="rId6"/>
              </a:rPr>
              <a:t>https://www.psychiatry.org/patients-</a:t>
            </a:r>
            <a:r>
              <a:rPr dirty="0">
                <a:hlinkClick r:id="rId6"/>
              </a:rPr>
              <a:t>families/what-is-mental-</a:t>
            </a:r>
            <a:r>
              <a:rPr spc="-10" dirty="0">
                <a:hlinkClick r:id="rId6"/>
              </a:rPr>
              <a:t>illness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156</TotalTime>
  <Words>809</Words>
  <Application>Microsoft Office PowerPoint</Application>
  <PresentationFormat>On-screen Show (16:9)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MT</vt:lpstr>
      <vt:lpstr>Times New Roman</vt:lpstr>
      <vt:lpstr>Trebuchet MS</vt:lpstr>
      <vt:lpstr>Wingdings 3</vt:lpstr>
      <vt:lpstr>Facet</vt:lpstr>
      <vt:lpstr>TEAM DETAILS</vt:lpstr>
      <vt:lpstr>INTRODUCTION</vt:lpstr>
      <vt:lpstr>PROJECT DETAILS</vt:lpstr>
      <vt:lpstr>PowerPoint Presentation</vt:lpstr>
      <vt:lpstr>Project Details</vt:lpstr>
      <vt:lpstr>PowerPoint Presentation</vt:lpstr>
      <vt:lpstr>Significance</vt:lpstr>
      <vt:lpstr>Features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NariYukthi ppt</dc:title>
  <cp:lastModifiedBy>Ankita Bhragava</cp:lastModifiedBy>
  <cp:revision>6</cp:revision>
  <dcterms:created xsi:type="dcterms:W3CDTF">2025-11-14T05:06:39Z</dcterms:created>
  <dcterms:modified xsi:type="dcterms:W3CDTF">2025-11-14T07:44:46Z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2025-11-14T00:00:00Z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2025-11-14T00:00:00Z</vt:filetime>
  </property>
</Properties>
</file>